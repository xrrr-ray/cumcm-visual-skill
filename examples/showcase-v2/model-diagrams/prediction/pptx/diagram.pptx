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91b3649444e78" /><Relationship Type="http://schemas.openxmlformats.org/officeDocument/2006/relationships/extended-properties" Target="/docProps/app.xml" Id="R588c82d8188246ea" /><Relationship Type="http://schemas.openxmlformats.org/officeDocument/2006/relationships/officeDocument" Target="/ppt/presentation.xml" Id="R305ef0fcd2f743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29e3628c5546fc"/>
  </p:sldMasterIdLst>
  <p:notesMasterIdLst>
    <p:notesMasterId xmlns:r="http://schemas.openxmlformats.org/officeDocument/2006/relationships" r:id="Rc879f6dd457244d7"/>
  </p:notesMasterIdLst>
  <p:sldIdLst>
    <p:sldId xmlns:r="http://schemas.openxmlformats.org/officeDocument/2006/relationships" id="256" r:id="R3cb2f113afab48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02501d27894c86" /><Relationship Type="http://schemas.openxmlformats.org/officeDocument/2006/relationships/slideMaster" Target="/ppt/slideMasters/slideMaster1.xml" Id="R1929e3628c5546fc" /><Relationship Type="http://schemas.openxmlformats.org/officeDocument/2006/relationships/notesMaster" Target="/ppt/notesMasters/notesMaster1.xml" Id="Rc879f6dd457244d7" /><Relationship Type="http://schemas.openxmlformats.org/officeDocument/2006/relationships/presProps" Target="/ppt/presProps.xml" Id="R96277a23ad1c4b5e" /><Relationship Type="http://schemas.openxmlformats.org/officeDocument/2006/relationships/tableStyles" Target="/ppt/tableStyles.xml" Id="R1670eac6d9f04bbf" /><Relationship Type="http://schemas.openxmlformats.org/officeDocument/2006/relationships/slide" Target="/ppt/slides/slide1.xml" Id="R3cb2f113afab48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732a5c6f74d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d404702574669" /><Relationship Type="http://schemas.openxmlformats.org/officeDocument/2006/relationships/notesMaster" Target="/ppt/notesMasters/notesMaster1.xml" Id="R6186f13093ed4e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357c756c049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64f1af012043dd" /><Relationship Type="http://schemas.openxmlformats.org/officeDocument/2006/relationships/slideLayout" Target="/ppt/slideLayouts/slideLayout1.xml" Id="Ra6e9af1feba94d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e9af1feba94d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9a7343b3e4484" /><Relationship Type="http://schemas.openxmlformats.org/officeDocument/2006/relationships/notesSlide" Target="/ppt/notesSlides/notesSlide1.xml" Id="R012e2b1a9ba149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D0A1845-7000-4B53-8596-E2954A9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381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CD7B446-C372-4540-9057-F90539C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7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多源特征需求预测模型</a:t>
            </a:r>
          </a:p>
        </p:txBody>
      </p:sp>
      <p:sp>
        <p:nvSpPr>
          <p:cNvPr id="3" name="visual-subtitle">
            <a:extLst xmlns:a="http://schemas.openxmlformats.org/drawingml/2006/main">
              <a:ext uri="{FF2B5EF4-FFF2-40B4-BE49-F238E27FC236}">
                <a16:creationId xmlns:a16="http://schemas.microsoft.com/office/drawing/2014/main" id="{842F6EED-9377-4484-BDD0-D3FB614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711200"/>
            <a:ext cx="1084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特征输入—损失函数—约束—训练验证—预测输出</a:t>
            </a:r>
          </a:p>
        </p:txBody>
      </p:sp>
      <p:sp>
        <p:nvSpPr>
          <p:cNvPr id="4" name="group-G1">
            <a:extLst xmlns:a="http://schemas.openxmlformats.org/drawingml/2006/main">
              <a:ext uri="{FF2B5EF4-FFF2-40B4-BE49-F238E27FC236}">
                <a16:creationId xmlns:a16="http://schemas.microsoft.com/office/drawing/2014/main" id="{21B060D2-99E6-42E6-BB59-45254DB3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6F3"/>
          </a:solidFill>
          <a:ln xmlns:a="http://schemas.openxmlformats.org/drawingml/2006/main" w="9525">
            <a:solidFill>
              <a:srgbClr val="9AB8AD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6735B"/>
                </a:solidFill>
                <a:latin typeface="Microsoft YaHei"/>
                <a:ea typeface="Microsoft YaHei"/>
                <a:cs typeface="Microsoft YaHei"/>
              </a:rPr>
              <a:t>01</a:t>
            </a:r>
            <a:r>
              <a:rPr sz="135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  模型输入</a:t>
            </a:r>
          </a:p>
        </p:txBody>
      </p:sp>
      <p:sp>
        <p:nvSpPr>
          <p:cNvPr id="5" name="group-G2">
            <a:extLst xmlns:a="http://schemas.openxmlformats.org/drawingml/2006/main">
              <a:ext uri="{FF2B5EF4-FFF2-40B4-BE49-F238E27FC236}">
                <a16:creationId xmlns:a16="http://schemas.microsoft.com/office/drawing/2014/main" id="{88D2437D-1266-4E26-A1DF-64D7953D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6F3"/>
          </a:solidFill>
          <a:ln xmlns:a="http://schemas.openxmlformats.org/drawingml/2006/main" w="9525">
            <a:solidFill>
              <a:srgbClr val="9AB8AD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6735B"/>
                </a:solidFill>
                <a:latin typeface="Microsoft YaHei"/>
                <a:ea typeface="Microsoft YaHei"/>
                <a:cs typeface="Microsoft YaHei"/>
              </a:rPr>
              <a:t>02</a:t>
            </a:r>
            <a:r>
              <a:rPr sz="135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  优化目标</a:t>
            </a:r>
          </a:p>
        </p:txBody>
      </p:sp>
      <p:sp>
        <p:nvSpPr>
          <p:cNvPr id="6" name="group-G3">
            <a:extLst xmlns:a="http://schemas.openxmlformats.org/drawingml/2006/main">
              <a:ext uri="{FF2B5EF4-FFF2-40B4-BE49-F238E27FC236}">
                <a16:creationId xmlns:a16="http://schemas.microsoft.com/office/drawing/2014/main" id="{61F2B48D-3583-48C7-A8CA-DC6A03E5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206500"/>
            <a:ext cx="2794000" cy="48895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EFF6F3"/>
          </a:solidFill>
          <a:ln xmlns:a="http://schemas.openxmlformats.org/drawingml/2006/main" w="9525">
            <a:solidFill>
              <a:srgbClr val="9AB8AD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6735B"/>
                </a:solidFill>
                <a:latin typeface="Microsoft YaHei"/>
                <a:ea typeface="Microsoft YaHei"/>
                <a:cs typeface="Microsoft YaHei"/>
              </a:rPr>
              <a:t>03</a:t>
            </a:r>
            <a:r>
              <a:rPr sz="135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  约束体系</a:t>
            </a:r>
          </a:p>
        </p:txBody>
      </p:sp>
      <p:sp>
        <p:nvSpPr>
          <p:cNvPr id="7" name="group-G4">
            <a:extLst xmlns:a="http://schemas.openxmlformats.org/drawingml/2006/main">
              <a:ext uri="{FF2B5EF4-FFF2-40B4-BE49-F238E27FC236}">
                <a16:creationId xmlns:a16="http://schemas.microsoft.com/office/drawing/2014/main" id="{381BEA66-7491-46F2-ADB7-A74EB9F4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6F3"/>
          </a:solidFill>
          <a:ln xmlns:a="http://schemas.openxmlformats.org/drawingml/2006/main" w="9525">
            <a:solidFill>
              <a:srgbClr val="9AB8AD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6735B"/>
                </a:solidFill>
                <a:latin typeface="Microsoft YaHei"/>
                <a:ea typeface="Microsoft YaHei"/>
                <a:cs typeface="Microsoft YaHei"/>
              </a:rPr>
              <a:t>04</a:t>
            </a:r>
            <a:r>
              <a:rPr sz="135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  求解与检验</a:t>
            </a:r>
          </a:p>
        </p:txBody>
      </p:sp>
      <p:sp>
        <p:nvSpPr>
          <p:cNvPr id="8" name="group-G5">
            <a:extLst xmlns:a="http://schemas.openxmlformats.org/drawingml/2006/main">
              <a:ext uri="{FF2B5EF4-FFF2-40B4-BE49-F238E27FC236}">
                <a16:creationId xmlns:a16="http://schemas.microsoft.com/office/drawing/2014/main" id="{B83D4FAA-8834-4070-B2FE-8B354AE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1206500"/>
            <a:ext cx="2317750" cy="488950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EFF6F3"/>
          </a:solidFill>
          <a:ln xmlns:a="http://schemas.openxmlformats.org/drawingml/2006/main" w="9525">
            <a:solidFill>
              <a:srgbClr val="9AB8AD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6735B"/>
                </a:solidFill>
                <a:latin typeface="Microsoft YaHei"/>
                <a:ea typeface="Microsoft YaHei"/>
                <a:cs typeface="Microsoft YaHei"/>
              </a:rPr>
              <a:t>05</a:t>
            </a:r>
            <a:r>
              <a:rPr sz="135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  模型输出</a:t>
            </a:r>
          </a:p>
        </p:txBody>
      </p:sp>
      <p:sp>
        <p:nvSpPr>
          <p:cNvPr id="9" name="node-N1">
            <a:extLst xmlns:a="http://schemas.openxmlformats.org/drawingml/2006/main">
              <a:ext uri="{FF2B5EF4-FFF2-40B4-BE49-F238E27FC236}">
                <a16:creationId xmlns:a16="http://schemas.microsoft.com/office/drawing/2014/main" id="{4E3E32AB-BBE7-46F2-B6FB-A06D5527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190500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38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决策变量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x_t：时刻 t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的历史需求特征；w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_t：天气与节假日</a:t>
            </a:r>
          </a:p>
        </p:txBody>
      </p:sp>
      <p:sp>
        <p:nvSpPr>
          <p:cNvPr id="10" name="node-N2">
            <a:extLst xmlns:a="http://schemas.openxmlformats.org/drawingml/2006/main">
              <a:ext uri="{FF2B5EF4-FFF2-40B4-BE49-F238E27FC236}">
                <a16:creationId xmlns:a16="http://schemas.microsoft.com/office/drawing/2014/main" id="{ABB0869D-5B19-4C49-B0B0-B1421CD9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3714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9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参数与常量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θ：模型可训练参数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；λ：正则化强度</a:t>
            </a:r>
          </a:p>
        </p:txBody>
      </p:sp>
      <p:sp>
        <p:nvSpPr>
          <p:cNvPr id="11" name="node-N3">
            <a:extLst xmlns:a="http://schemas.openxmlformats.org/drawingml/2006/main">
              <a:ext uri="{FF2B5EF4-FFF2-40B4-BE49-F238E27FC236}">
                <a16:creationId xmlns:a16="http://schemas.microsoft.com/office/drawing/2014/main" id="{0A73E495-E418-490B-BAFD-ADE09F8C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19250" cy="155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35B"/>
          </a:solidFill>
          <a:ln xmlns:a="http://schemas.openxmlformats.org/drawingml/2006/main" w="12700">
            <a:solidFill>
              <a:srgbClr val="26735B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18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最小化目标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min_(θ) (1)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/(n)∑ₜ₌₁ⁿ(y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ₜ-ŷₜ)² + λ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||θ||₂²</a:t>
            </a:r>
          </a:p>
        </p:txBody>
      </p:sp>
      <p:sp>
        <p:nvSpPr>
          <p:cNvPr id="12" name="node-N4">
            <a:extLst xmlns:a="http://schemas.openxmlformats.org/drawingml/2006/main">
              <a:ext uri="{FF2B5EF4-FFF2-40B4-BE49-F238E27FC236}">
                <a16:creationId xmlns:a16="http://schemas.microsoft.com/office/drawing/2014/main" id="{1E7C291F-40DF-4247-8968-E94914F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非负预测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ŷₜ ≥ 0；需求量不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能为负</a:t>
            </a:r>
          </a:p>
        </p:txBody>
      </p:sp>
      <p:sp>
        <p:nvSpPr>
          <p:cNvPr id="13" name="node-N5">
            <a:extLst xmlns:a="http://schemas.openxmlformats.org/drawingml/2006/main">
              <a:ext uri="{FF2B5EF4-FFF2-40B4-BE49-F238E27FC236}">
                <a16:creationId xmlns:a16="http://schemas.microsoft.com/office/drawing/2014/main" id="{261D3F69-A599-4411-AA7F-62188C91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287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容量上界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ŷₜ ≤ Cₜ；不超过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系统最大承载量</a:t>
            </a:r>
          </a:p>
        </p:txBody>
      </p:sp>
      <p:sp>
        <p:nvSpPr>
          <p:cNvPr id="14" name="node-N6">
            <a:extLst xmlns:a="http://schemas.openxmlformats.org/drawingml/2006/main">
              <a:ext uri="{FF2B5EF4-FFF2-40B4-BE49-F238E27FC236}">
                <a16:creationId xmlns:a16="http://schemas.microsoft.com/office/drawing/2014/main" id="{7245258B-7208-46EC-9801-CD29AF8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125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时序一致性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训练集时间早于验证集；避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免未来信息泄漏</a:t>
            </a:r>
          </a:p>
        </p:txBody>
      </p:sp>
      <p:sp>
        <p:nvSpPr>
          <p:cNvPr id="15" name="node-N7">
            <a:extLst xmlns:a="http://schemas.openxmlformats.org/drawingml/2006/main">
              <a:ext uri="{FF2B5EF4-FFF2-40B4-BE49-F238E27FC236}">
                <a16:creationId xmlns:a16="http://schemas.microsoft.com/office/drawing/2014/main" id="{2CBFB1D3-7438-4789-989B-0C9A0EF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799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缺失率约束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missing(xⱼ)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≤ 5%；保证输入特征质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0746C"/>
                </a:solidFill>
                <a:latin typeface="Cambria Math"/>
                <a:ea typeface="Cambria Math"/>
                <a:cs typeface="Cambria Math"/>
              </a:rPr>
              <a:t>量</a:t>
            </a:r>
          </a:p>
        </p:txBody>
      </p:sp>
      <p:sp>
        <p:nvSpPr>
          <p:cNvPr id="16" name="node-N8">
            <a:extLst xmlns:a="http://schemas.openxmlformats.org/drawingml/2006/main">
              <a:ext uri="{FF2B5EF4-FFF2-40B4-BE49-F238E27FC236}">
                <a16:creationId xmlns:a16="http://schemas.microsoft.com/office/drawing/2014/main" id="{889AA37B-410E-4A61-A86B-94D2F67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12725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81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时序交叉验证 + X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GBoost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滑动窗口构造样本；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贝叶斯参数搜索；另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 2 项</a:t>
            </a:r>
          </a:p>
        </p:txBody>
      </p:sp>
      <p:sp>
        <p:nvSpPr>
          <p:cNvPr id="17" name="node-N9">
            <a:extLst xmlns:a="http://schemas.openxmlformats.org/drawingml/2006/main">
              <a:ext uri="{FF2B5EF4-FFF2-40B4-BE49-F238E27FC236}">
                <a16:creationId xmlns:a16="http://schemas.microsoft.com/office/drawing/2014/main" id="{F706ED7E-59D7-404D-89B7-3451BFC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968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879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结果检验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MAE / RMS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E；残差诊断；消融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18" name="node-N10">
            <a:extLst xmlns:a="http://schemas.openxmlformats.org/drawingml/2006/main">
              <a:ext uri="{FF2B5EF4-FFF2-40B4-BE49-F238E27FC236}">
                <a16:creationId xmlns:a16="http://schemas.microsoft.com/office/drawing/2014/main" id="{D5946CEB-98E7-4980-B72B-D3E84B12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1841500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点预测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未来各时段需求量</a:t>
            </a:r>
          </a:p>
        </p:txBody>
      </p:sp>
      <p:sp>
        <p:nvSpPr>
          <p:cNvPr id="19" name="node-N11">
            <a:extLst xmlns:a="http://schemas.openxmlformats.org/drawingml/2006/main">
              <a:ext uri="{FF2B5EF4-FFF2-40B4-BE49-F238E27FC236}">
                <a16:creationId xmlns:a16="http://schemas.microsoft.com/office/drawing/2014/main" id="{C27A83EC-BE4C-472C-B48D-F9B6A8B5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037417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置信区间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预测上下界</a:t>
            </a:r>
          </a:p>
        </p:txBody>
      </p:sp>
      <p:sp>
        <p:nvSpPr>
          <p:cNvPr id="20" name="node-N12">
            <a:extLst xmlns:a="http://schemas.openxmlformats.org/drawingml/2006/main">
              <a:ext uri="{FF2B5EF4-FFF2-40B4-BE49-F238E27FC236}">
                <a16:creationId xmlns:a16="http://schemas.microsoft.com/office/drawing/2014/main" id="{DD0E9044-802C-46D2-B2E9-D79B319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233333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B8AD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7312A"/>
                </a:solidFill>
                <a:latin typeface="Microsoft YaHei"/>
                <a:ea typeface="Microsoft YaHei"/>
                <a:cs typeface="Microsoft YaHei"/>
              </a:rPr>
              <a:t>特征贡献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SHAP 重要性排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0746C"/>
                </a:solidFill>
                <a:latin typeface="Microsoft YaHei"/>
                <a:ea typeface="Microsoft YaHei"/>
                <a:cs typeface="Microsoft YaHei"/>
              </a:rPr>
              <a:t>序</a:t>
            </a:r>
          </a:p>
        </p:txBody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32000" y="2508250"/>
            <a:ext cx="539750" cy="746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032000" y="3254375"/>
            <a:ext cx="5397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191000" y="2127250"/>
            <a:ext cx="571500" cy="1127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191000" y="3095625"/>
            <a:ext cx="571500" cy="1587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91000" y="3254375"/>
            <a:ext cx="571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91000" y="3254375"/>
            <a:ext cx="571500" cy="1778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12000" y="2730500"/>
            <a:ext cx="571500" cy="365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93125" y="3333750"/>
            <a:ext cx="0" cy="635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2F4A41"/>
            </a:solidFill>
            <a:prstDash val="solid"/>
            <a:round/>
            <a:tailEnd type="triangle" w="med" len="med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9302750" y="2333625"/>
            <a:ext cx="571500" cy="2174875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6735B"/>
            </a:solidFill>
            <a:prstDash val="solid"/>
            <a:round/>
            <a:tailEnd type="triangle" w="med" len="med"/>
          </a:ln>
        </p:spPr>
      </p:cxnSp>
      <p:cxnSp>
        <p:nvCxnSpPr>
          <p:cNvPr id="6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9302750" y="3529542"/>
            <a:ext cx="571500" cy="978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6735B"/>
            </a:solidFill>
            <a:prstDash val="solid"/>
            <a:round/>
            <a:tailEnd type="triangle" w="med" len="med"/>
          </a:ln>
        </p:spPr>
      </p:cxnSp>
      <p:cxnSp>
        <p:nvCxnSpPr>
          <p:cNvPr id="6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02750" y="4508500"/>
            <a:ext cx="571500" cy="216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6735B"/>
            </a:solidFill>
            <a:prstDash val="solid"/>
            <a:rou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49092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2026-07-24T09:55:16.3800000Z</dcterms:created>
  <dcterms:modified xsi:type="dcterms:W3CDTF">2026-07-24T09:55:16.3800000Z</dcterms:modified>
</coreProperties>
</file>