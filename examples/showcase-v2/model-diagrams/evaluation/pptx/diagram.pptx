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4dbd89fb74b57" /><Relationship Type="http://schemas.openxmlformats.org/officeDocument/2006/relationships/extended-properties" Target="/docProps/app.xml" Id="R202c15e59665482d" /><Relationship Type="http://schemas.openxmlformats.org/officeDocument/2006/relationships/officeDocument" Target="/ppt/presentation.xml" Id="R5b3bba8fa1f5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0c2f310044aaf"/>
  </p:sldMasterIdLst>
  <p:notesMasterIdLst>
    <p:notesMasterId xmlns:r="http://schemas.openxmlformats.org/officeDocument/2006/relationships" r:id="R8b026ffcfe2c42c2"/>
  </p:notesMasterIdLst>
  <p:sldIdLst>
    <p:sldId xmlns:r="http://schemas.openxmlformats.org/officeDocument/2006/relationships" id="256" r:id="Rdce001f2074b41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45e9d6c0c470d" /><Relationship Type="http://schemas.openxmlformats.org/officeDocument/2006/relationships/slideMaster" Target="/ppt/slideMasters/slideMaster1.xml" Id="Ra700c2f310044aaf" /><Relationship Type="http://schemas.openxmlformats.org/officeDocument/2006/relationships/notesMaster" Target="/ppt/notesMasters/notesMaster1.xml" Id="R8b026ffcfe2c42c2" /><Relationship Type="http://schemas.openxmlformats.org/officeDocument/2006/relationships/presProps" Target="/ppt/presProps.xml" Id="R5768825766ea4c1c" /><Relationship Type="http://schemas.openxmlformats.org/officeDocument/2006/relationships/tableStyles" Target="/ppt/tableStyles.xml" Id="R6c11683b4ee04c7a" /><Relationship Type="http://schemas.openxmlformats.org/officeDocument/2006/relationships/slide" Target="/ppt/slides/slide1.xml" Id="Rdce001f2074b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2af1b619a5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464953596410e" /><Relationship Type="http://schemas.openxmlformats.org/officeDocument/2006/relationships/notesMaster" Target="/ppt/notesMasters/notesMaster1.xml" Id="R0ad3b720f5df4a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c3a7d76ca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1e0d7ba7342de" /><Relationship Type="http://schemas.openxmlformats.org/officeDocument/2006/relationships/slideLayout" Target="/ppt/slideLayouts/slideLayout1.xml" Id="R43c30084715b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c30084715b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0edc5a7a4e70" /><Relationship Type="http://schemas.openxmlformats.org/officeDocument/2006/relationships/notesSlide" Target="/ppt/notesSlides/notesSlide1.xml" Id="R6b97505005774f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A12758-8903-4FB1-8698-7B0039B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81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7DA9FFE-07AE-4AC8-99F7-312E7A8A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区域韧性综合评价模型</a:t>
            </a:r>
          </a:p>
        </p:txBody>
      </p:sp>
      <p:sp>
        <p:nvSpPr>
          <p:cNvPr id="3" name="visual-subtitle">
            <a:extLst xmlns:a="http://schemas.openxmlformats.org/drawingml/2006/main">
              <a:ext uri="{FF2B5EF4-FFF2-40B4-BE49-F238E27FC236}">
                <a16:creationId xmlns:a16="http://schemas.microsoft.com/office/drawing/2014/main" id="{E2906C51-FE8F-48C5-8BB5-42B32AA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711200"/>
            <a:ext cx="1084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评价指标—综合目标—权重约束—测算—结果解释</a:t>
            </a:r>
          </a:p>
        </p:txBody>
      </p:sp>
      <p:sp>
        <p:nvSpPr>
          <p:cNvPr id="4" name="group-G1">
            <a:extLst xmlns:a="http://schemas.openxmlformats.org/drawingml/2006/main">
              <a:ext uri="{FF2B5EF4-FFF2-40B4-BE49-F238E27FC236}">
                <a16:creationId xmlns:a16="http://schemas.microsoft.com/office/drawing/2014/main" id="{F0775C75-24C5-469F-BD16-DAC23C3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A7ADB5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01</a:t>
            </a:r>
            <a:r>
              <a:rPr sz="135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  模型输入</a:t>
            </a:r>
          </a:p>
        </p:txBody>
      </p:sp>
      <p:sp>
        <p:nvSpPr>
          <p:cNvPr id="5" name="group-G2">
            <a:extLst xmlns:a="http://schemas.openxmlformats.org/drawingml/2006/main">
              <a:ext uri="{FF2B5EF4-FFF2-40B4-BE49-F238E27FC236}">
                <a16:creationId xmlns:a16="http://schemas.microsoft.com/office/drawing/2014/main" id="{166393EA-DC77-4D30-B78C-35C549E1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A7ADB5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02</a:t>
            </a:r>
            <a:r>
              <a:rPr sz="135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  优化目标</a:t>
            </a:r>
          </a:p>
        </p:txBody>
      </p:sp>
      <p:sp>
        <p:nvSpPr>
          <p:cNvPr id="6" name="group-G3">
            <a:extLst xmlns:a="http://schemas.openxmlformats.org/drawingml/2006/main">
              <a:ext uri="{FF2B5EF4-FFF2-40B4-BE49-F238E27FC236}">
                <a16:creationId xmlns:a16="http://schemas.microsoft.com/office/drawing/2014/main" id="{9BD46CF2-D875-425A-B92A-6BECB31E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1206500"/>
            <a:ext cx="2794000" cy="48895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A7ADB5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03</a:t>
            </a:r>
            <a:r>
              <a:rPr sz="135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  约束体系</a:t>
            </a:r>
          </a:p>
        </p:txBody>
      </p:sp>
      <p:sp>
        <p:nvSpPr>
          <p:cNvPr id="7" name="group-G4">
            <a:extLst xmlns:a="http://schemas.openxmlformats.org/drawingml/2006/main">
              <a:ext uri="{FF2B5EF4-FFF2-40B4-BE49-F238E27FC236}">
                <a16:creationId xmlns:a16="http://schemas.microsoft.com/office/drawing/2014/main" id="{45436DE8-301A-437E-A22E-EECF9A93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1206500"/>
            <a:ext cx="2000250" cy="4889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A7ADB5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04</a:t>
            </a:r>
            <a:r>
              <a:rPr sz="135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  求解与检验</a:t>
            </a:r>
          </a:p>
        </p:txBody>
      </p:sp>
      <p:sp>
        <p:nvSpPr>
          <p:cNvPr id="8" name="group-G5">
            <a:extLst xmlns:a="http://schemas.openxmlformats.org/drawingml/2006/main">
              <a:ext uri="{FF2B5EF4-FFF2-40B4-BE49-F238E27FC236}">
                <a16:creationId xmlns:a16="http://schemas.microsoft.com/office/drawing/2014/main" id="{70EEA3B7-DC23-4D32-B0B5-C6ADB856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1206500"/>
            <a:ext cx="2317750" cy="488950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A7ADB5"/>
            </a:solidFill>
            <a:prstDash val="solid"/>
          </a:ln>
        </p:spPr>
        <p:txBody>
          <a:bodyPr xmlns:a="http://schemas.openxmlformats.org/drawingml/2006/main" wrap="none" lIns="139700" tIns="95250" rIns="114300" bIns="63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1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05</a:t>
            </a:r>
            <a:r>
              <a:rPr sz="135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  模型输出</a:t>
            </a:r>
          </a:p>
        </p:txBody>
      </p:sp>
      <p:sp>
        <p:nvSpPr>
          <p:cNvPr id="9" name="node-N1">
            <a:extLst xmlns:a="http://schemas.openxmlformats.org/drawingml/2006/main">
              <a:ext uri="{FF2B5EF4-FFF2-40B4-BE49-F238E27FC236}">
                <a16:creationId xmlns:a16="http://schemas.microsoft.com/office/drawing/2014/main" id="{84C00AC2-EBDA-4C49-A92C-CF78D43A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190500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决策变量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z_ij：区域 i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 的第 j 个标准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化指标；w_j：第</a:t>
            </a:r>
          </a:p>
        </p:txBody>
      </p:sp>
      <p:sp>
        <p:nvSpPr>
          <p:cNvPr id="10" name="node-N2">
            <a:extLst xmlns:a="http://schemas.openxmlformats.org/drawingml/2006/main">
              <a:ext uri="{FF2B5EF4-FFF2-40B4-BE49-F238E27FC236}">
                <a16:creationId xmlns:a16="http://schemas.microsoft.com/office/drawing/2014/main" id="{B5802B6B-86EC-4B24-BA22-708811C7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" y="3714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参数与常量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z_j^+：指标正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理想解；z_j^-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：指标负理想解</a:t>
            </a:r>
          </a:p>
        </p:txBody>
      </p:sp>
      <p:sp>
        <p:nvSpPr>
          <p:cNvPr id="11" name="node-N3">
            <a:extLst xmlns:a="http://schemas.openxmlformats.org/drawingml/2006/main">
              <a:ext uri="{FF2B5EF4-FFF2-40B4-BE49-F238E27FC236}">
                <a16:creationId xmlns:a16="http://schemas.microsoft.com/office/drawing/2014/main" id="{1A29910F-EEEC-4B14-BFDF-D6CF128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19250" cy="155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4151"/>
          </a:solidFill>
          <a:ln xmlns:a="http://schemas.openxmlformats.org/drawingml/2006/main" w="12700">
            <a:solidFill>
              <a:srgbClr val="374151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39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最大化目标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max Cᵢ = (D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ᵢ^-)/(Dᵢ^+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+ Dᵢ^-)</a:t>
            </a:r>
          </a:p>
        </p:txBody>
      </p:sp>
      <p:sp>
        <p:nvSpPr>
          <p:cNvPr id="12" name="node-N4">
            <a:extLst xmlns:a="http://schemas.openxmlformats.org/drawingml/2006/main">
              <a:ext uri="{FF2B5EF4-FFF2-40B4-BE49-F238E27FC236}">
                <a16:creationId xmlns:a16="http://schemas.microsoft.com/office/drawing/2014/main" id="{B3124300-7F98-4C4D-8C00-120CD7A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799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权重归一化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∑ⱼ₌₁^(m) wⱼ 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= 1；全部指标权重之和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为 1</a:t>
            </a:r>
          </a:p>
        </p:txBody>
      </p:sp>
      <p:sp>
        <p:nvSpPr>
          <p:cNvPr id="13" name="node-N5">
            <a:extLst xmlns:a="http://schemas.openxmlformats.org/drawingml/2006/main">
              <a:ext uri="{FF2B5EF4-FFF2-40B4-BE49-F238E27FC236}">
                <a16:creationId xmlns:a16="http://schemas.microsoft.com/office/drawing/2014/main" id="{6D4568C0-A7A9-431C-A8CE-C7FEA26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287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权重非负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wⱼ ≥ 0；指标贡献不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为负</a:t>
            </a:r>
          </a:p>
        </p:txBody>
      </p:sp>
      <p:sp>
        <p:nvSpPr>
          <p:cNvPr id="14" name="node-N6">
            <a:extLst xmlns:a="http://schemas.openxmlformats.org/drawingml/2006/main">
              <a:ext uri="{FF2B5EF4-FFF2-40B4-BE49-F238E27FC236}">
                <a16:creationId xmlns:a16="http://schemas.microsoft.com/office/drawing/2014/main" id="{17527E3A-1B56-4F9E-A337-C32DB6C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1250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同向化处理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成本型指标先正向化；统一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指标优劣方向</a:t>
            </a:r>
          </a:p>
        </p:txBody>
      </p:sp>
      <p:sp>
        <p:nvSpPr>
          <p:cNvPr id="15" name="node-N7">
            <a:extLst xmlns:a="http://schemas.openxmlformats.org/drawingml/2006/main">
              <a:ext uri="{FF2B5EF4-FFF2-40B4-BE49-F238E27FC236}">
                <a16:creationId xmlns:a16="http://schemas.microsoft.com/office/drawing/2014/main" id="{D671F0D1-E641-4245-AFF1-2A3A46A3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2349500" cy="82550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量纲消除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zᵢj ∈ [0,1]；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68707C"/>
                </a:solidFill>
                <a:latin typeface="Cambria Math"/>
                <a:ea typeface="Cambria Math"/>
                <a:cs typeface="Cambria Math"/>
              </a:rPr>
              <a:t>保证指标可比较</a:t>
            </a:r>
          </a:p>
        </p:txBody>
      </p:sp>
      <p:sp>
        <p:nvSpPr>
          <p:cNvPr id="16" name="node-N8">
            <a:extLst xmlns:a="http://schemas.openxmlformats.org/drawingml/2006/main">
              <a:ext uri="{FF2B5EF4-FFF2-40B4-BE49-F238E27FC236}">
                <a16:creationId xmlns:a16="http://schemas.microsoft.com/office/drawing/2014/main" id="{F2B0E928-B9C6-4F0F-8A9A-E037A3E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127250"/>
            <a:ext cx="1619250" cy="1206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13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熵权法—TOPSIS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指标同向化；熵权计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算；另 2 项</a:t>
            </a:r>
          </a:p>
        </p:txBody>
      </p:sp>
      <p:sp>
        <p:nvSpPr>
          <p:cNvPr id="17" name="node-N9">
            <a:extLst xmlns:a="http://schemas.openxmlformats.org/drawingml/2006/main">
              <a:ext uri="{FF2B5EF4-FFF2-40B4-BE49-F238E27FC236}">
                <a16:creationId xmlns:a16="http://schemas.microsoft.com/office/drawing/2014/main" id="{AA4B8088-5594-4C72-A7EB-207CE1D3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968750"/>
            <a:ext cx="1619250" cy="1079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835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结果检验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权重敏感性；专家排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序一致性；年度稳健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性</a:t>
            </a:r>
          </a:p>
        </p:txBody>
      </p:sp>
      <p:sp>
        <p:nvSpPr>
          <p:cNvPr id="18" name="node-N10">
            <a:extLst xmlns:a="http://schemas.openxmlformats.org/drawingml/2006/main">
              <a:ext uri="{FF2B5EF4-FFF2-40B4-BE49-F238E27FC236}">
                <a16:creationId xmlns:a16="http://schemas.microsoft.com/office/drawing/2014/main" id="{9EA83C33-912F-42D8-B1CF-5E6DABDD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1841500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综合得分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各区域韧性贴近度</a:t>
            </a:r>
          </a:p>
        </p:txBody>
      </p:sp>
      <p:sp>
        <p:nvSpPr>
          <p:cNvPr id="19" name="node-N11">
            <a:extLst xmlns:a="http://schemas.openxmlformats.org/drawingml/2006/main">
              <a:ext uri="{FF2B5EF4-FFF2-40B4-BE49-F238E27FC236}">
                <a16:creationId xmlns:a16="http://schemas.microsoft.com/office/drawing/2014/main" id="{19ED1777-7871-4749-8BED-821C22B2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037417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995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分项贡献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经济、社会、生态维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度贡献</a:t>
            </a:r>
          </a:p>
        </p:txBody>
      </p:sp>
      <p:sp>
        <p:nvSpPr>
          <p:cNvPr id="20" name="node-N12">
            <a:extLst xmlns:a="http://schemas.openxmlformats.org/drawingml/2006/main">
              <a:ext uri="{FF2B5EF4-FFF2-40B4-BE49-F238E27FC236}">
                <a16:creationId xmlns:a16="http://schemas.microsoft.com/office/drawing/2014/main" id="{B368C8F2-5F6D-4D97-B02E-94B94B61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4233333"/>
            <a:ext cx="1873250" cy="9842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A7ADB5"/>
            </a:solidFill>
            <a:prstDash val="solid"/>
          </a:ln>
        </p:spPr>
        <p:txBody>
          <a:bodyPr xmlns:a="http://schemas.openxmlformats.org/drawingml/2006/main" wrap="square" lIns="114300" tIns="82550" rIns="114300" bIns="825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3"/>
              </a:spcAft>
              <a:buNone/>
            </a:pPr>
            <a:r>
              <a:rPr sz="1600" b="1">
                <a:solidFill>
                  <a:srgbClr val="20242B"/>
                </a:solidFill>
                <a:latin typeface="Microsoft YaHei"/>
                <a:ea typeface="Microsoft YaHei"/>
                <a:cs typeface="Microsoft YaHei"/>
              </a:rPr>
              <a:t>等级划分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68707C"/>
                </a:solidFill>
                <a:latin typeface="Microsoft YaHei"/>
                <a:ea typeface="Microsoft YaHei"/>
                <a:cs typeface="Microsoft YaHei"/>
              </a:rPr>
              <a:t>高、中、低韧性区域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32000" y="2508250"/>
            <a:ext cx="539750" cy="746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032000" y="3254375"/>
            <a:ext cx="5397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191000" y="2127250"/>
            <a:ext cx="571500" cy="1127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191000" y="3095625"/>
            <a:ext cx="571500" cy="15875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91000" y="3254375"/>
            <a:ext cx="571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91000" y="3254375"/>
            <a:ext cx="571500" cy="1778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112000" y="2730500"/>
            <a:ext cx="571500" cy="36512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93125" y="3333750"/>
            <a:ext cx="0" cy="635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rnd">
            <a:solidFill>
              <a:srgbClr val="4B5563"/>
            </a:solidFill>
            <a:prstDash val="solid"/>
            <a:round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9302750" y="2333625"/>
            <a:ext cx="571500" cy="2174875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52806C"/>
            </a:solidFill>
            <a:prstDash val="solid"/>
            <a:round/>
            <a:tailEnd type="triangle" w="med" len="med"/>
          </a:ln>
        </p:spPr>
      </p:cxnSp>
      <p:cxnSp>
        <p:nvCxnSpPr>
          <p:cNvPr id="6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9302750" y="3529542"/>
            <a:ext cx="571500" cy="978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52806C"/>
            </a:solidFill>
            <a:prstDash val="solid"/>
            <a:round/>
            <a:tailEnd type="triangle" w="med" len="med"/>
          </a:ln>
        </p:spPr>
      </p:cxnSp>
      <p:cxnSp>
        <p:nvCxnSpPr>
          <p:cNvPr id="6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2750" y="4508500"/>
            <a:ext cx="571500" cy="216958"/>
          </a:xfrm>
          <a:prstGeom xmlns:a="http://schemas.openxmlformats.org/drawingml/2006/main" prst="straightConnector1">
            <a:avLst/>
          </a:prstGeom>
          <a:ln xmlns:a="http://schemas.openxmlformats.org/drawingml/2006/main" w="22225" cap="rnd">
            <a:solidFill>
              <a:srgbClr val="52806C"/>
            </a:solidFill>
            <a:prstDash val="solid"/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71897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2026-07-24T09:55:30.1500000Z</dcterms:created>
  <dcterms:modified xsi:type="dcterms:W3CDTF">2026-07-24T09:55:30.1500000Z</dcterms:modified>
</coreProperties>
</file>