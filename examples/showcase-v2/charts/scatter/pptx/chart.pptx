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8e129fe1574736" /><Relationship Type="http://schemas.openxmlformats.org/officeDocument/2006/relationships/extended-properties" Target="/docProps/app.xml" Id="R9b2ca6f1f4514629" /><Relationship Type="http://schemas.openxmlformats.org/officeDocument/2006/relationships/officeDocument" Target="/ppt/presentation.xml" Id="Rc8ddb17da5ac44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ae5a12c195464a"/>
  </p:sldMasterIdLst>
  <p:notesMasterIdLst>
    <p:notesMasterId xmlns:r="http://schemas.openxmlformats.org/officeDocument/2006/relationships" r:id="R83b6872c839a46a7"/>
  </p:notesMasterIdLst>
  <p:sldIdLst>
    <p:sldId xmlns:r="http://schemas.openxmlformats.org/officeDocument/2006/relationships" id="256" r:id="R0068c35690ff46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29c707afd04d26" /><Relationship Type="http://schemas.openxmlformats.org/officeDocument/2006/relationships/slideMaster" Target="/ppt/slideMasters/slideMaster1.xml" Id="Rccae5a12c195464a" /><Relationship Type="http://schemas.openxmlformats.org/officeDocument/2006/relationships/notesMaster" Target="/ppt/notesMasters/notesMaster1.xml" Id="R83b6872c839a46a7" /><Relationship Type="http://schemas.openxmlformats.org/officeDocument/2006/relationships/presProps" Target="/ppt/presProps.xml" Id="Rea641f74cece461a" /><Relationship Type="http://schemas.openxmlformats.org/officeDocument/2006/relationships/tableStyles" Target="/ppt/tableStyles.xml" Id="R039fdf8c573e4dfe" /><Relationship Type="http://schemas.openxmlformats.org/officeDocument/2006/relationships/slide" Target="/ppt/slides/slide1.xml" Id="R0068c35690ff46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787361da944f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f3c593839046c7" /><Relationship Type="http://schemas.openxmlformats.org/officeDocument/2006/relationships/notesMaster" Target="/ppt/notesMasters/notesMaster1.xml" Id="Rcf8adf57b99746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0f8235c2d47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dc90e2f55447aa" /><Relationship Type="http://schemas.openxmlformats.org/officeDocument/2006/relationships/slideLayout" Target="/ppt/slideLayouts/slideLayout1.xml" Id="R6703b5290ecf43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03b5290ecf43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f35f0468e41e2" /><Relationship Type="http://schemas.openxmlformats.org/officeDocument/2006/relationships/chart" Target="/ppt/slides/charts/chart1.xml" Id="Re9c3e67ee3124583" /><Relationship Type="http://schemas.openxmlformats.org/officeDocument/2006/relationships/notesSlide" Target="/ppt/notesSlides/notesSlide1.xml" Id="Reff5d7cd0a0e4017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准确率</c:v>
          </c:tx>
          <c:spPr>
            <a:ln xmlns:a="http://schemas.openxmlformats.org/drawingml/2006/main" w="9525">
              <a:solidFill>
                <a:srgbClr val="2457A7"/>
              </a:solidFill>
              <a:prstDash val="solid"/>
            </a:ln>
          </c:spPr>
          <c:marker>
            <c:symbol val="circle"/>
            <c:size val="8"/>
          </c:marker>
          <c:xVal>
            <c:numLit>
              <c:formatCode>General</c:formatCode>
              <c:ptCount val="8"/>
              <c:pt idx="0">
                <c:v>12</c:v>
              </c:pt>
              <c:pt idx="1">
                <c:v>19</c:v>
              </c:pt>
              <c:pt idx="2">
                <c:v>27</c:v>
              </c:pt>
              <c:pt idx="3">
                <c:v>35</c:v>
              </c:pt>
              <c:pt idx="4">
                <c:v>48</c:v>
              </c:pt>
              <c:pt idx="5">
                <c:v>61</c:v>
              </c:pt>
              <c:pt idx="6">
                <c:v>79</c:v>
              </c:pt>
              <c:pt idx="7">
                <c:v>96</c:v>
              </c:pt>
            </c:numLit>
          </c:xVal>
          <c:yVal>
            <c:numLit>
              <c:formatCode>General</c:formatCode>
              <c:ptCount val="8"/>
              <c:pt idx="0">
                <c:v>0.801</c:v>
              </c:pt>
              <c:pt idx="1">
                <c:v>0.827</c:v>
              </c:pt>
              <c:pt idx="2">
                <c:v>0.846</c:v>
              </c:pt>
              <c:pt idx="3">
                <c:v>0.861</c:v>
              </c:pt>
              <c:pt idx="4">
                <c:v>0.879</c:v>
              </c:pt>
              <c:pt idx="5">
                <c:v>0.887</c:v>
              </c:pt>
              <c:pt idx="6">
                <c:v>0.899</c:v>
              </c:pt>
              <c:pt idx="7">
                <c:v>0.904</c:v>
              </c:pt>
            </c:numLit>
          </c:yVal>
        </c:ser>
        <c:ser>
          <c:idx val="1"/>
          <c:order val="1"/>
          <c:tx>
            <c:v>参数量</c:v>
          </c:tx>
          <c:spPr>
            <a:ln xmlns:a="http://schemas.openxmlformats.org/drawingml/2006/main" w="9525">
              <a:solidFill>
                <a:srgbClr val="23856D"/>
              </a:solidFill>
              <a:prstDash val="solid"/>
            </a:ln>
          </c:spPr>
          <c:marker>
            <c:symbol val="circle"/>
            <c:size val="8"/>
          </c:marker>
          <c:xVal>
            <c:numLit>
              <c:formatCode>General</c:formatCode>
              <c:ptCount val="8"/>
              <c:pt idx="0">
                <c:v>12</c:v>
              </c:pt>
              <c:pt idx="1">
                <c:v>19</c:v>
              </c:pt>
              <c:pt idx="2">
                <c:v>27</c:v>
              </c:pt>
              <c:pt idx="3">
                <c:v>35</c:v>
              </c:pt>
              <c:pt idx="4">
                <c:v>48</c:v>
              </c:pt>
              <c:pt idx="5">
                <c:v>61</c:v>
              </c:pt>
              <c:pt idx="6">
                <c:v>79</c:v>
              </c:pt>
              <c:pt idx="7">
                <c:v>96</c:v>
              </c:pt>
            </c:numLit>
          </c:xVal>
          <c:yVal>
            <c:numLit>
              <c:formatCode>General</c:formatCode>
              <c:ptCount val="8"/>
              <c:pt idx="0">
                <c:v>1.2</c:v>
              </c:pt>
              <c:pt idx="1">
                <c:v>2.1</c:v>
              </c:pt>
              <c:pt idx="2">
                <c:v>3.4</c:v>
              </c:pt>
              <c:pt idx="3">
                <c:v>4</c:v>
              </c:pt>
              <c:pt idx="4">
                <c:v>5.8</c:v>
              </c:pt>
              <c:pt idx="5">
                <c:v>7.2</c:v>
              </c:pt>
              <c:pt idx="6">
                <c:v>9.5</c:v>
              </c:pt>
              <c:pt idx="7">
                <c:v>12.1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指标值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训练时长 / min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6"/>
                </a:solidFill>
              </a:defRPr>
            </a:pPr>
          </a:p>
        </c:txPr>
        <c:crossAx val="48672768"/>
      </c:valAx>
      <c:spPr>
        <a:noFill xmlns:a="http://schemas.openxmlformats.org/drawingml/2006/main"/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620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7C64811-640C-4721-9C0B-A9CBC58F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rt-title">
            <a:extLst xmlns:a="http://schemas.openxmlformats.org/drawingml/2006/main">
              <a:ext uri="{FF2B5EF4-FFF2-40B4-BE49-F238E27FC236}">
                <a16:creationId xmlns:a16="http://schemas.microsoft.com/office/drawing/2014/main" id="{1829E9C6-4B54-4E2C-BDD8-55C722D0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训练成本与模型性能关系</a:t>
            </a:r>
          </a:p>
        </p:txBody>
      </p:sp>
      <p:sp>
        <p:nvSpPr>
          <p:cNvPr id="3" name="chart-subtitle">
            <a:extLst xmlns:a="http://schemas.openxmlformats.org/drawingml/2006/main">
              <a:ext uri="{FF2B5EF4-FFF2-40B4-BE49-F238E27FC236}">
                <a16:creationId xmlns:a16="http://schemas.microsoft.com/office/drawing/2014/main" id="{19340205-060C-4729-9585-E39656CE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性能收益与计算成本权衡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81050" y="1381125"/>
          <a:ext xmlns:a="http://schemas.openxmlformats.org/drawingml/2006/main" cx="106489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c3e67ee3124583"/>
          </a:graphicData>
        </a:graphic>
      </p:graphicFrame>
    </p:spTree>
    <p:extLst>
      <p:ext uri="{BB962C8B-B14F-4D97-AF65-F5344CB8AC3E}">
        <p14:creationId xmlns:p14="http://schemas.microsoft.com/office/powerpoint/2010/main" val="10129243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2026-07-24T09:39:24.7880000Z</dcterms:created>
  <dcterms:modified xsi:type="dcterms:W3CDTF">2026-07-24T09:39:24.7880000Z</dcterms:modified>
</coreProperties>
</file>