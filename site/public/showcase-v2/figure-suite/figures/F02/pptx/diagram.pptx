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eb2e26711740a3" /><Relationship Type="http://schemas.openxmlformats.org/officeDocument/2006/relationships/extended-properties" Target="/docProps/app.xml" Id="R9233edc4b9964d41" /><Relationship Type="http://schemas.openxmlformats.org/officeDocument/2006/relationships/officeDocument" Target="/ppt/presentation.xml" Id="Rc90163db78a740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14a273f9ea4ba7"/>
  </p:sldMasterIdLst>
  <p:notesMasterIdLst>
    <p:notesMasterId xmlns:r="http://schemas.openxmlformats.org/officeDocument/2006/relationships" r:id="Rca22b1d92aac40cf"/>
  </p:notesMasterIdLst>
  <p:sldIdLst>
    <p:sldId xmlns:r="http://schemas.openxmlformats.org/officeDocument/2006/relationships" id="256" r:id="R41deb92adb564c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3967851c2b4daa" /><Relationship Type="http://schemas.openxmlformats.org/officeDocument/2006/relationships/slideMaster" Target="/ppt/slideMasters/slideMaster1.xml" Id="R4614a273f9ea4ba7" /><Relationship Type="http://schemas.openxmlformats.org/officeDocument/2006/relationships/notesMaster" Target="/ppt/notesMasters/notesMaster1.xml" Id="Rca22b1d92aac40cf" /><Relationship Type="http://schemas.openxmlformats.org/officeDocument/2006/relationships/presProps" Target="/ppt/presProps.xml" Id="R06184f5844614c73" /><Relationship Type="http://schemas.openxmlformats.org/officeDocument/2006/relationships/tableStyles" Target="/ppt/tableStyles.xml" Id="R95f36707e1604786" /><Relationship Type="http://schemas.openxmlformats.org/officeDocument/2006/relationships/slide" Target="/ppt/slides/slide1.xml" Id="R41deb92adb56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0a16b544f94a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0efced60704a9e" /><Relationship Type="http://schemas.openxmlformats.org/officeDocument/2006/relationships/notesMaster" Target="/ppt/notesMasters/notesMaster1.xml" Id="R234e5a7792384e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74f46d69f4c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a9de3f24964e75" /><Relationship Type="http://schemas.openxmlformats.org/officeDocument/2006/relationships/slideLayout" Target="/ppt/slideLayouts/slideLayout1.xml" Id="Rb8097128da8647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097128da8647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db768efac4130" /><Relationship Type="http://schemas.openxmlformats.org/officeDocument/2006/relationships/notesSlide" Target="/ppt/notesSlides/notesSlide1.xml" Id="Ra1c7143e677342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2B0D75-13C3-44C0-A5BC-675B8FA1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3810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6EF0C31-05EB-47E9-BD56-03CF5136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7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多目标配送路径优化模型</a:t>
            </a:r>
          </a:p>
        </p:txBody>
      </p:sp>
      <p:sp>
        <p:nvSpPr>
          <p:cNvPr id="3" name="visual-subtitle">
            <a:extLst xmlns:a="http://schemas.openxmlformats.org/drawingml/2006/main">
              <a:ext uri="{FF2B5EF4-FFF2-40B4-BE49-F238E27FC236}">
                <a16:creationId xmlns:a16="http://schemas.microsoft.com/office/drawing/2014/main" id="{EA5D556B-55B1-40D9-9094-0AF5A76E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711200"/>
            <a:ext cx="1084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决策变量—目标函数—约束—求解—输出</a:t>
            </a:r>
          </a:p>
        </p:txBody>
      </p:sp>
      <p:sp>
        <p:nvSpPr>
          <p:cNvPr id="4" name="group-G1">
            <a:extLst xmlns:a="http://schemas.openxmlformats.org/drawingml/2006/main">
              <a:ext uri="{FF2B5EF4-FFF2-40B4-BE49-F238E27FC236}">
                <a16:creationId xmlns:a16="http://schemas.microsoft.com/office/drawing/2014/main" id="{DE742CEF-10B9-4DD4-A521-654299AC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AABC2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457A7"/>
                </a:solidFill>
                <a:latin typeface="Microsoft YaHei"/>
                <a:ea typeface="Microsoft YaHei"/>
                <a:cs typeface="Microsoft YaHei"/>
              </a:rPr>
              <a:t>01</a:t>
            </a:r>
            <a:r>
              <a:rPr sz="13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  模型输入</a:t>
            </a:r>
          </a:p>
        </p:txBody>
      </p:sp>
      <p:sp>
        <p:nvSpPr>
          <p:cNvPr id="5" name="group-G2">
            <a:extLst xmlns:a="http://schemas.openxmlformats.org/drawingml/2006/main">
              <a:ext uri="{FF2B5EF4-FFF2-40B4-BE49-F238E27FC236}">
                <a16:creationId xmlns:a16="http://schemas.microsoft.com/office/drawing/2014/main" id="{61008D5E-7571-4020-A275-07A6F64E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AABC2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457A7"/>
                </a:solidFill>
                <a:latin typeface="Microsoft YaHei"/>
                <a:ea typeface="Microsoft YaHei"/>
                <a:cs typeface="Microsoft YaHei"/>
              </a:rPr>
              <a:t>02</a:t>
            </a:r>
            <a:r>
              <a:rPr sz="13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  优化目标</a:t>
            </a:r>
          </a:p>
        </p:txBody>
      </p:sp>
      <p:sp>
        <p:nvSpPr>
          <p:cNvPr id="6" name="group-G3">
            <a:extLst xmlns:a="http://schemas.openxmlformats.org/drawingml/2006/main">
              <a:ext uri="{FF2B5EF4-FFF2-40B4-BE49-F238E27FC236}">
                <a16:creationId xmlns:a16="http://schemas.microsoft.com/office/drawing/2014/main" id="{5F6C7EF7-0329-4A90-91A5-2F32CCE3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1206500"/>
            <a:ext cx="2794000" cy="48895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AABC2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457A7"/>
                </a:solidFill>
                <a:latin typeface="Microsoft YaHei"/>
                <a:ea typeface="Microsoft YaHei"/>
                <a:cs typeface="Microsoft YaHei"/>
              </a:rPr>
              <a:t>03</a:t>
            </a:r>
            <a:r>
              <a:rPr sz="13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  约束体系</a:t>
            </a:r>
          </a:p>
        </p:txBody>
      </p:sp>
      <p:sp>
        <p:nvSpPr>
          <p:cNvPr id="7" name="group-G4">
            <a:extLst xmlns:a="http://schemas.openxmlformats.org/drawingml/2006/main">
              <a:ext uri="{FF2B5EF4-FFF2-40B4-BE49-F238E27FC236}">
                <a16:creationId xmlns:a16="http://schemas.microsoft.com/office/drawing/2014/main" id="{159E1DEF-5AC9-4222-89BD-BA4C7705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AABC2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457A7"/>
                </a:solidFill>
                <a:latin typeface="Microsoft YaHei"/>
                <a:ea typeface="Microsoft YaHei"/>
                <a:cs typeface="Microsoft YaHei"/>
              </a:rPr>
              <a:t>04</a:t>
            </a:r>
            <a:r>
              <a:rPr sz="13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  求解与检验</a:t>
            </a:r>
          </a:p>
        </p:txBody>
      </p:sp>
      <p:sp>
        <p:nvSpPr>
          <p:cNvPr id="8" name="group-G5">
            <a:extLst xmlns:a="http://schemas.openxmlformats.org/drawingml/2006/main">
              <a:ext uri="{FF2B5EF4-FFF2-40B4-BE49-F238E27FC236}">
                <a16:creationId xmlns:a16="http://schemas.microsoft.com/office/drawing/2014/main" id="{01761A45-BB7D-469C-A702-A0C8E40B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1206500"/>
            <a:ext cx="2317750" cy="488950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AABC2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457A7"/>
                </a:solidFill>
                <a:latin typeface="Microsoft YaHei"/>
                <a:ea typeface="Microsoft YaHei"/>
                <a:cs typeface="Microsoft YaHei"/>
              </a:rPr>
              <a:t>05</a:t>
            </a:r>
            <a:r>
              <a:rPr sz="13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  模型输出</a:t>
            </a:r>
          </a:p>
        </p:txBody>
      </p:sp>
      <p:sp>
        <p:nvSpPr>
          <p:cNvPr id="9" name="node-N1">
            <a:extLst xmlns:a="http://schemas.openxmlformats.org/drawingml/2006/main">
              <a:ext uri="{FF2B5EF4-FFF2-40B4-BE49-F238E27FC236}">
                <a16:creationId xmlns:a16="http://schemas.microsoft.com/office/drawing/2014/main" id="{CFBC51D8-9DF4-428B-BBA7-F7A3DE61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" y="1905000"/>
            <a:ext cx="1619250" cy="12065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决策变量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x_ijk：车辆 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k 是否经过弧 i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→j；t_i：节点</a:t>
            </a:r>
          </a:p>
        </p:txBody>
      </p:sp>
      <p:sp>
        <p:nvSpPr>
          <p:cNvPr id="10" name="node-N2">
            <a:extLst xmlns:a="http://schemas.openxmlformats.org/drawingml/2006/main">
              <a:ext uri="{FF2B5EF4-FFF2-40B4-BE49-F238E27FC236}">
                <a16:creationId xmlns:a16="http://schemas.microsoft.com/office/drawing/2014/main" id="{EE7AA2B0-A2B7-4BAE-AD03-EFF76BF3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" y="3714750"/>
            <a:ext cx="1619250" cy="1079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66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参数与常量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d_ij：节点间距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离；q_i：客户需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求量；Q_k：车辆</a:t>
            </a:r>
          </a:p>
        </p:txBody>
      </p:sp>
      <p:sp>
        <p:nvSpPr>
          <p:cNvPr id="11" name="node-N3">
            <a:extLst xmlns:a="http://schemas.openxmlformats.org/drawingml/2006/main">
              <a:ext uri="{FF2B5EF4-FFF2-40B4-BE49-F238E27FC236}">
                <a16:creationId xmlns:a16="http://schemas.microsoft.com/office/drawing/2014/main" id="{6002ADF1-A02C-4B86-972C-B270F55C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19250" cy="155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A7"/>
          </a:solidFill>
          <a:ln xmlns:a="http://schemas.openxmlformats.org/drawingml/2006/main" w="12700">
            <a:solidFill>
              <a:srgbClr val="2457A7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18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最小化目标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min Z = α ∑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_(i,j,k) dᵢ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ⱼxᵢⱼₖ + β ∑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ᵢ pᵢ</a:t>
            </a:r>
          </a:p>
        </p:txBody>
      </p:sp>
      <p:sp>
        <p:nvSpPr>
          <p:cNvPr id="12" name="node-N4">
            <a:extLst xmlns:a="http://schemas.openxmlformats.org/drawingml/2006/main">
              <a:ext uri="{FF2B5EF4-FFF2-40B4-BE49-F238E27FC236}">
                <a16:creationId xmlns:a16="http://schemas.microsoft.com/office/drawing/2014/main" id="{D1F1FFDE-7DB4-4CCE-9C1C-02E867EC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799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流平衡约束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Σⱼ xᵢjk = Σⱼ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 xⱼik；车辆进入与离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开守恒</a:t>
            </a:r>
          </a:p>
        </p:txBody>
      </p:sp>
      <p:sp>
        <p:nvSpPr>
          <p:cNvPr id="13" name="node-N5">
            <a:extLst xmlns:a="http://schemas.openxmlformats.org/drawingml/2006/main">
              <a:ext uri="{FF2B5EF4-FFF2-40B4-BE49-F238E27FC236}">
                <a16:creationId xmlns:a16="http://schemas.microsoft.com/office/drawing/2014/main" id="{22A9A755-6E3C-46D6-B6AC-36B9CD54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2875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容量约束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∑ᵢ qᵢ xᵢⱼₖ ≤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 Qₖ；装载量不超过容量</a:t>
            </a:r>
          </a:p>
        </p:txBody>
      </p:sp>
      <p:sp>
        <p:nvSpPr>
          <p:cNvPr id="14" name="node-N6">
            <a:extLst xmlns:a="http://schemas.openxmlformats.org/drawingml/2006/main">
              <a:ext uri="{FF2B5EF4-FFF2-40B4-BE49-F238E27FC236}">
                <a16:creationId xmlns:a16="http://schemas.microsoft.com/office/drawing/2014/main" id="{6067E008-B25D-44D2-ADF2-2F7B7BFB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1250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时间窗约束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aᵢ ≤ tᵢ ≤ bᵢ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；在允许时段服务</a:t>
            </a:r>
          </a:p>
        </p:txBody>
      </p:sp>
      <p:sp>
        <p:nvSpPr>
          <p:cNvPr id="15" name="node-N7">
            <a:extLst xmlns:a="http://schemas.openxmlformats.org/drawingml/2006/main">
              <a:ext uri="{FF2B5EF4-FFF2-40B4-BE49-F238E27FC236}">
                <a16:creationId xmlns:a16="http://schemas.microsoft.com/office/drawing/2014/main" id="{C260EBF3-677A-4166-89D8-BA3BB106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唯一服务约束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ΣₖΣⱼ xᵢjk = 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1；每个客户仅服务一次</a:t>
            </a:r>
          </a:p>
        </p:txBody>
      </p:sp>
      <p:sp>
        <p:nvSpPr>
          <p:cNvPr id="16" name="node-N8">
            <a:extLst xmlns:a="http://schemas.openxmlformats.org/drawingml/2006/main">
              <a:ext uri="{FF2B5EF4-FFF2-40B4-BE49-F238E27FC236}">
                <a16:creationId xmlns:a16="http://schemas.microsoft.com/office/drawing/2014/main" id="{D8636F65-92C3-443B-ACEC-ED041510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127250"/>
            <a:ext cx="1619250" cy="12065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38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改进遗传算法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编码与初始化；选择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交叉变异；另 2 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项</a:t>
            </a:r>
          </a:p>
        </p:txBody>
      </p:sp>
      <p:sp>
        <p:nvSpPr>
          <p:cNvPr id="17" name="node-N9">
            <a:extLst xmlns:a="http://schemas.openxmlformats.org/drawingml/2006/main">
              <a:ext uri="{FF2B5EF4-FFF2-40B4-BE49-F238E27FC236}">
                <a16:creationId xmlns:a16="http://schemas.microsoft.com/office/drawing/2014/main" id="{8D0F1C61-9DA8-47A0-A29A-F2499596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968750"/>
            <a:ext cx="1619250" cy="1079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83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结果检验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约束可行性检查；基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准算法对比；敏感性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18" name="node-N10">
            <a:extLst xmlns:a="http://schemas.openxmlformats.org/drawingml/2006/main">
              <a:ext uri="{FF2B5EF4-FFF2-40B4-BE49-F238E27FC236}">
                <a16:creationId xmlns:a16="http://schemas.microsoft.com/office/drawing/2014/main" id="{AD9929C8-713A-4365-8656-5AA21E86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1841500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95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最优路径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车辆访问顺序与分配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9" name="node-N11">
            <a:extLst xmlns:a="http://schemas.openxmlformats.org/drawingml/2006/main">
              <a:ext uri="{FF2B5EF4-FFF2-40B4-BE49-F238E27FC236}">
                <a16:creationId xmlns:a16="http://schemas.microsoft.com/office/drawing/2014/main" id="{5D386515-EF06-4182-941D-A16A1FDE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3037417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目标函数值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总里程与延误成本</a:t>
            </a:r>
          </a:p>
        </p:txBody>
      </p:sp>
      <p:sp>
        <p:nvSpPr>
          <p:cNvPr id="20" name="node-N12">
            <a:extLst xmlns:a="http://schemas.openxmlformats.org/drawingml/2006/main">
              <a:ext uri="{FF2B5EF4-FFF2-40B4-BE49-F238E27FC236}">
                <a16:creationId xmlns:a16="http://schemas.microsoft.com/office/drawing/2014/main" id="{45F61F3B-EED5-47BA-B1ED-3CF9279F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4233333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95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收敛性、稳定性与运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行时间</a:t>
            </a:r>
          </a:p>
        </p:txBody>
      </p: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032000" y="2508250"/>
            <a:ext cx="539750" cy="746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032000" y="3254375"/>
            <a:ext cx="5397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191000" y="2127250"/>
            <a:ext cx="571500" cy="1127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191000" y="3095625"/>
            <a:ext cx="571500" cy="1587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91000" y="3254375"/>
            <a:ext cx="5715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91000" y="3254375"/>
            <a:ext cx="571500" cy="1778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112000" y="2730500"/>
            <a:ext cx="571500" cy="365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93125" y="3333750"/>
            <a:ext cx="0" cy="635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9302750" y="2333625"/>
            <a:ext cx="571500" cy="2174875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25845F"/>
            </a:solidFill>
            <a:prstDash val="solid"/>
            <a:round/>
            <a:tailEnd type="triangle" w="med" len="med"/>
          </a:ln>
        </p:spPr>
      </p:cxnSp>
      <p:cxnSp>
        <p:nvCxnSpPr>
          <p:cNvPr id="61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9302750" y="3529542"/>
            <a:ext cx="571500" cy="978958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25845F"/>
            </a:solidFill>
            <a:prstDash val="solid"/>
            <a:round/>
            <a:tailEnd type="triangle" w="med" len="med"/>
          </a:ln>
        </p:spPr>
      </p:cxnSp>
      <p:cxnSp>
        <p:nvCxnSpPr>
          <p:cNvPr id="62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02750" y="4508500"/>
            <a:ext cx="571500" cy="216958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25845F"/>
            </a:solidFill>
            <a:prstDash val="solid"/>
            <a:rou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051142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2026-07-24T09:58:33.0750000Z</dcterms:created>
  <dcterms:modified xsi:type="dcterms:W3CDTF">2026-07-24T09:58:33.0760000Z</dcterms:modified>
</coreProperties>
</file>