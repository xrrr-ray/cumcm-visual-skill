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d4c0128f194c4f" /><Relationship Type="http://schemas.openxmlformats.org/officeDocument/2006/relationships/extended-properties" Target="/docProps/app.xml" Id="Rdf28e582060446f4" /><Relationship Type="http://schemas.openxmlformats.org/officeDocument/2006/relationships/officeDocument" Target="/ppt/presentation.xml" Id="R9643816c3e5b47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6735598ef8473d"/>
  </p:sldMasterIdLst>
  <p:notesMasterIdLst>
    <p:notesMasterId xmlns:r="http://schemas.openxmlformats.org/officeDocument/2006/relationships" r:id="R114851202a784cb2"/>
  </p:notesMasterIdLst>
  <p:sldIdLst>
    <p:sldId xmlns:r="http://schemas.openxmlformats.org/officeDocument/2006/relationships" id="256" r:id="R986e94b3841c45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34971eeb24f31" /><Relationship Type="http://schemas.openxmlformats.org/officeDocument/2006/relationships/slideMaster" Target="/ppt/slideMasters/slideMaster1.xml" Id="R5f6735598ef8473d" /><Relationship Type="http://schemas.openxmlformats.org/officeDocument/2006/relationships/notesMaster" Target="/ppt/notesMasters/notesMaster1.xml" Id="R114851202a784cb2" /><Relationship Type="http://schemas.openxmlformats.org/officeDocument/2006/relationships/presProps" Target="/ppt/presProps.xml" Id="R53c9979a2f094585" /><Relationship Type="http://schemas.openxmlformats.org/officeDocument/2006/relationships/tableStyles" Target="/ppt/tableStyles.xml" Id="R6a69ccde4c384ea5" /><Relationship Type="http://schemas.openxmlformats.org/officeDocument/2006/relationships/slide" Target="/ppt/slides/slide1.xml" Id="R986e94b3841c45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24265f27ae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0b91acf6784aaa" /><Relationship Type="http://schemas.openxmlformats.org/officeDocument/2006/relationships/notesMaster" Target="/ppt/notesMasters/notesMaster1.xml" Id="Rb273ff594dd147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a6d6d90824f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e7137de1d74e7d" /><Relationship Type="http://schemas.openxmlformats.org/officeDocument/2006/relationships/slideLayout" Target="/ppt/slideLayouts/slideLayout1.xml" Id="R7be7d1c02eb6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e7d1c02eb6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88491062748f9" /><Relationship Type="http://schemas.openxmlformats.org/officeDocument/2006/relationships/notesSlide" Target="/ppt/notesSlides/notesSlide1.xml" Id="R32e9068b24a947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D26BD95-024D-4466-B0F2-C5E4621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381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00F4DBE-4D0A-477B-83E7-049EB02D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7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多目标配送路径优化模型</a:t>
            </a:r>
          </a:p>
        </p:txBody>
      </p:sp>
      <p:sp>
        <p:nvSpPr>
          <p:cNvPr id="3" name="visual-subtitle">
            <a:extLst xmlns:a="http://schemas.openxmlformats.org/drawingml/2006/main">
              <a:ext uri="{FF2B5EF4-FFF2-40B4-BE49-F238E27FC236}">
                <a16:creationId xmlns:a16="http://schemas.microsoft.com/office/drawing/2014/main" id="{424C5590-7AE5-49DF-9189-700CBE98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711200"/>
            <a:ext cx="1084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决策变量—目标函数—约束—求解—输出</a:t>
            </a:r>
          </a:p>
        </p:txBody>
      </p:sp>
      <p:sp>
        <p:nvSpPr>
          <p:cNvPr id="4" name="group-G1">
            <a:extLst xmlns:a="http://schemas.openxmlformats.org/drawingml/2006/main">
              <a:ext uri="{FF2B5EF4-FFF2-40B4-BE49-F238E27FC236}">
                <a16:creationId xmlns:a16="http://schemas.microsoft.com/office/drawing/2014/main" id="{963DC57E-7EFF-4A6A-9FA7-94B380A7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01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模型输入</a:t>
            </a:r>
          </a:p>
        </p:txBody>
      </p:sp>
      <p:sp>
        <p:nvSpPr>
          <p:cNvPr id="5" name="group-G2">
            <a:extLst xmlns:a="http://schemas.openxmlformats.org/drawingml/2006/main">
              <a:ext uri="{FF2B5EF4-FFF2-40B4-BE49-F238E27FC236}">
                <a16:creationId xmlns:a16="http://schemas.microsoft.com/office/drawing/2014/main" id="{BD7200E4-31F2-4F11-8DC7-2A415C58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02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优化目标</a:t>
            </a:r>
          </a:p>
        </p:txBody>
      </p:sp>
      <p:sp>
        <p:nvSpPr>
          <p:cNvPr id="6" name="group-G3">
            <a:extLst xmlns:a="http://schemas.openxmlformats.org/drawingml/2006/main">
              <a:ext uri="{FF2B5EF4-FFF2-40B4-BE49-F238E27FC236}">
                <a16:creationId xmlns:a16="http://schemas.microsoft.com/office/drawing/2014/main" id="{D5FD86FF-B5DB-4879-8179-BAC2158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206500"/>
            <a:ext cx="2794000" cy="48895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03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约束体系</a:t>
            </a:r>
          </a:p>
        </p:txBody>
      </p:sp>
      <p:sp>
        <p:nvSpPr>
          <p:cNvPr id="7" name="group-G4">
            <a:extLst xmlns:a="http://schemas.openxmlformats.org/drawingml/2006/main">
              <a:ext uri="{FF2B5EF4-FFF2-40B4-BE49-F238E27FC236}">
                <a16:creationId xmlns:a16="http://schemas.microsoft.com/office/drawing/2014/main" id="{FF6616B3-0C3F-4B06-9ABB-4C9556A0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04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求解与检验</a:t>
            </a:r>
          </a:p>
        </p:txBody>
      </p:sp>
      <p:sp>
        <p:nvSpPr>
          <p:cNvPr id="8" name="group-G5">
            <a:extLst xmlns:a="http://schemas.openxmlformats.org/drawingml/2006/main">
              <a:ext uri="{FF2B5EF4-FFF2-40B4-BE49-F238E27FC236}">
                <a16:creationId xmlns:a16="http://schemas.microsoft.com/office/drawing/2014/main" id="{97F40BCE-9FF5-4039-87E9-4E3A608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1206500"/>
            <a:ext cx="2317750" cy="488950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9AABC2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2457A7"/>
                </a:solidFill>
                <a:latin typeface="Microsoft YaHei"/>
                <a:ea typeface="Microsoft YaHei"/>
                <a:cs typeface="Microsoft YaHei"/>
              </a:rPr>
              <a:t>05</a:t>
            </a:r>
            <a:r>
              <a:rPr sz="13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  模型输出</a:t>
            </a:r>
          </a:p>
        </p:txBody>
      </p:sp>
      <p:sp>
        <p:nvSpPr>
          <p:cNvPr id="9" name="node-N1">
            <a:extLst xmlns:a="http://schemas.openxmlformats.org/drawingml/2006/main">
              <a:ext uri="{FF2B5EF4-FFF2-40B4-BE49-F238E27FC236}">
                <a16:creationId xmlns:a16="http://schemas.microsoft.com/office/drawing/2014/main" id="{BC3EBCFB-C991-4460-AFA5-3CBEC76F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" y="1905000"/>
            <a:ext cx="1619250" cy="12065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决策变量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x_ijk：车辆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k 是否经过弧 i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→j；t_i：节点</a:t>
            </a:r>
          </a:p>
        </p:txBody>
      </p:sp>
      <p:sp>
        <p:nvSpPr>
          <p:cNvPr id="10" name="node-N2">
            <a:extLst xmlns:a="http://schemas.openxmlformats.org/drawingml/2006/main">
              <a:ext uri="{FF2B5EF4-FFF2-40B4-BE49-F238E27FC236}">
                <a16:creationId xmlns:a16="http://schemas.microsoft.com/office/drawing/2014/main" id="{82EE792B-DC86-477B-BE64-0F2D2C76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" y="3714750"/>
            <a:ext cx="1619250" cy="1079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66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参数与常量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d_ij：节点间距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离；q_i：客户需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求量；Q_k：车辆</a:t>
            </a:r>
          </a:p>
        </p:txBody>
      </p:sp>
      <p:sp>
        <p:nvSpPr>
          <p:cNvPr id="11" name="node-N3">
            <a:extLst xmlns:a="http://schemas.openxmlformats.org/drawingml/2006/main">
              <a:ext uri="{FF2B5EF4-FFF2-40B4-BE49-F238E27FC236}">
                <a16:creationId xmlns:a16="http://schemas.microsoft.com/office/drawing/2014/main" id="{55ECA0A2-BFB6-4080-A4A9-71A6E3D4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19250" cy="155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A7"/>
          </a:solidFill>
          <a:ln xmlns:a="http://schemas.openxmlformats.org/drawingml/2006/main" w="12700">
            <a:solidFill>
              <a:srgbClr val="2457A7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18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最小化目标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min Z = α ∑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_(i,j,k) dᵢ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ⱼxᵢⱼₖ + β ∑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ᵢ pᵢ</a:t>
            </a:r>
          </a:p>
        </p:txBody>
      </p:sp>
      <p:sp>
        <p:nvSpPr>
          <p:cNvPr id="12" name="node-N4">
            <a:extLst xmlns:a="http://schemas.openxmlformats.org/drawingml/2006/main">
              <a:ext uri="{FF2B5EF4-FFF2-40B4-BE49-F238E27FC236}">
                <a16:creationId xmlns:a16="http://schemas.microsoft.com/office/drawing/2014/main" id="{92BB2A51-3389-45C8-A960-12C433EA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799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流平衡约束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Σⱼ xᵢjk = Σⱼ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 xⱼik；车辆进入与离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开守恒</a:t>
            </a:r>
          </a:p>
        </p:txBody>
      </p:sp>
      <p:sp>
        <p:nvSpPr>
          <p:cNvPr id="13" name="node-N5">
            <a:extLst xmlns:a="http://schemas.openxmlformats.org/drawingml/2006/main">
              <a:ext uri="{FF2B5EF4-FFF2-40B4-BE49-F238E27FC236}">
                <a16:creationId xmlns:a16="http://schemas.microsoft.com/office/drawing/2014/main" id="{9D7AB4DA-9979-445B-A3DF-70656614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2875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容量约束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∑ᵢ qᵢ xᵢⱼₖ ≤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 Qₖ；装载量不超过容量</a:t>
            </a:r>
          </a:p>
        </p:txBody>
      </p:sp>
      <p:sp>
        <p:nvSpPr>
          <p:cNvPr id="14" name="node-N6">
            <a:extLst xmlns:a="http://schemas.openxmlformats.org/drawingml/2006/main">
              <a:ext uri="{FF2B5EF4-FFF2-40B4-BE49-F238E27FC236}">
                <a16:creationId xmlns:a16="http://schemas.microsoft.com/office/drawing/2014/main" id="{4BF75B1B-973B-42AA-8065-BE4C6834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1250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时间窗约束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aᵢ ≤ tᵢ ≤ bᵢ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；在允许时段服务</a:t>
            </a:r>
          </a:p>
        </p:txBody>
      </p:sp>
      <p:sp>
        <p:nvSpPr>
          <p:cNvPr id="15" name="node-N7">
            <a:extLst xmlns:a="http://schemas.openxmlformats.org/drawingml/2006/main">
              <a:ext uri="{FF2B5EF4-FFF2-40B4-BE49-F238E27FC236}">
                <a16:creationId xmlns:a16="http://schemas.microsoft.com/office/drawing/2014/main" id="{468CF198-F791-43A6-8DC8-D01515A9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唯一服务约束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ΣₖΣⱼ xᵢjk =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A7D"/>
                </a:solidFill>
                <a:latin typeface="Cambria Math"/>
                <a:ea typeface="Cambria Math"/>
                <a:cs typeface="Cambria Math"/>
              </a:rPr>
              <a:t>1；每个客户仅服务一次</a:t>
            </a:r>
          </a:p>
        </p:txBody>
      </p:sp>
      <p:sp>
        <p:nvSpPr>
          <p:cNvPr id="16" name="node-N8">
            <a:extLst xmlns:a="http://schemas.openxmlformats.org/drawingml/2006/main">
              <a:ext uri="{FF2B5EF4-FFF2-40B4-BE49-F238E27FC236}">
                <a16:creationId xmlns:a16="http://schemas.microsoft.com/office/drawing/2014/main" id="{2A4CCD53-98BD-48CD-81EC-CC7E134A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127250"/>
            <a:ext cx="1619250" cy="12065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38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改进遗传算法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编码与初始化；选择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交叉变异；另 2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项</a:t>
            </a:r>
          </a:p>
        </p:txBody>
      </p:sp>
      <p:sp>
        <p:nvSpPr>
          <p:cNvPr id="17" name="node-N9">
            <a:extLst xmlns:a="http://schemas.openxmlformats.org/drawingml/2006/main">
              <a:ext uri="{FF2B5EF4-FFF2-40B4-BE49-F238E27FC236}">
                <a16:creationId xmlns:a16="http://schemas.microsoft.com/office/drawing/2014/main" id="{9982670B-6E35-46A9-A3AF-BE7A95DF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968750"/>
            <a:ext cx="1619250" cy="1079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83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结果检验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约束可行性检查；基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准算法对比；敏感性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18" name="node-N10">
            <a:extLst xmlns:a="http://schemas.openxmlformats.org/drawingml/2006/main">
              <a:ext uri="{FF2B5EF4-FFF2-40B4-BE49-F238E27FC236}">
                <a16:creationId xmlns:a16="http://schemas.microsoft.com/office/drawing/2014/main" id="{3CAB8EF5-7937-4BC9-8B25-EEFA3EAA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1841500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95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最优路径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车辆访问顺序与分配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9" name="node-N11">
            <a:extLst xmlns:a="http://schemas.openxmlformats.org/drawingml/2006/main">
              <a:ext uri="{FF2B5EF4-FFF2-40B4-BE49-F238E27FC236}">
                <a16:creationId xmlns:a16="http://schemas.microsoft.com/office/drawing/2014/main" id="{DC746A78-D0FB-4154-84AB-984C97F0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3037417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目标函数值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总里程与延误成本</a:t>
            </a:r>
          </a:p>
        </p:txBody>
      </p:sp>
      <p:sp>
        <p:nvSpPr>
          <p:cNvPr id="20" name="node-N12">
            <a:extLst xmlns:a="http://schemas.openxmlformats.org/drawingml/2006/main">
              <a:ext uri="{FF2B5EF4-FFF2-40B4-BE49-F238E27FC236}">
                <a16:creationId xmlns:a16="http://schemas.microsoft.com/office/drawing/2014/main" id="{186DBAC9-7B38-4CD7-8E65-490CBEE0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4233333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BC2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95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收敛性、稳定性与运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D6A7D"/>
                </a:solidFill>
                <a:latin typeface="Microsoft YaHei"/>
                <a:ea typeface="Microsoft YaHei"/>
                <a:cs typeface="Microsoft YaHei"/>
              </a:rPr>
              <a:t>行时间</a:t>
            </a:r>
          </a:p>
        </p:txBody>
      </p: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032000" y="2508250"/>
            <a:ext cx="539750" cy="746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032000" y="3254375"/>
            <a:ext cx="5397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191000" y="2127250"/>
            <a:ext cx="571500" cy="1127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191000" y="3095625"/>
            <a:ext cx="571500" cy="1587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91000" y="3254375"/>
            <a:ext cx="5715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91000" y="3254375"/>
            <a:ext cx="571500" cy="1778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112000" y="2730500"/>
            <a:ext cx="571500" cy="365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93125" y="3333750"/>
            <a:ext cx="0" cy="635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334155"/>
            </a:solidFill>
            <a:prstDash val="solid"/>
            <a:round/>
            <a:tailEnd type="triangle" w="med" len="med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9302750" y="2333625"/>
            <a:ext cx="571500" cy="2174875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25845F"/>
            </a:solidFill>
            <a:prstDash val="solid"/>
            <a:round/>
            <a:tailEnd type="triangle" w="med" len="med"/>
          </a:ln>
        </p:spPr>
      </p:cxnSp>
      <p:cxnSp>
        <p:nvCxnSpPr>
          <p:cNvPr id="61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9302750" y="3529542"/>
            <a:ext cx="571500" cy="978958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25845F"/>
            </a:solidFill>
            <a:prstDash val="solid"/>
            <a:round/>
            <a:tailEnd type="triangle" w="med" len="med"/>
          </a:ln>
        </p:spPr>
      </p:cxnSp>
      <p:cxnSp>
        <p:nvCxnSpPr>
          <p:cNvPr id="6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02750" y="4508500"/>
            <a:ext cx="571500" cy="216958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25845F"/>
            </a:solidFill>
            <a:prstDash val="solid"/>
            <a:rou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373651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2026-07-24T09:55:02.3170000Z</dcterms:created>
  <dcterms:modified xsi:type="dcterms:W3CDTF">2026-07-24T09:55:02.3180000Z</dcterms:modified>
</coreProperties>
</file>